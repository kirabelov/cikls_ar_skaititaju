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 ExtraBold"/>
      <p:bold r:id="rId21"/>
    </p:embeddedFont>
    <p:embeddedFont>
      <p:font typeface="Lexend SemiBold"/>
      <p:regular r:id="rId22"/>
      <p:bold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Lexend Black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SemiBold-regular.fntdata"/><Relationship Id="rId21" Type="http://schemas.openxmlformats.org/officeDocument/2006/relationships/font" Target="fonts/LexendExtraBold-bold.fntdata"/><Relationship Id="rId24" Type="http://schemas.openxmlformats.org/officeDocument/2006/relationships/font" Target="fonts/RobotoCondensed-regular.fntdata"/><Relationship Id="rId23" Type="http://schemas.openxmlformats.org/officeDocument/2006/relationships/font" Target="fonts/Lexend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Lexend-regular.fntdata"/><Relationship Id="rId27" Type="http://schemas.openxmlformats.org/officeDocument/2006/relationships/font" Target="fonts/Roboto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exendBlac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9f8fdbfc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f9f8fdbfc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162a966c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162a966c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9f8fdbfc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9f8fdbfc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162a966c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162a966c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162a966c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162a966c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162a966c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162a966c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5162a966c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5162a966c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162a966c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162a966c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9f8fdbfc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9f8fdbfc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9f8fdbfc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9f8fdbfc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9f8fdbfc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9f8fdbfc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9f8fdbfc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9f8fdbfc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18943ec2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518943ec2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9f8fdbfc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f9f8fdbfc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16550" y="2532738"/>
            <a:ext cx="4508100" cy="1547400"/>
          </a:xfrm>
          <a:prstGeom prst="rect">
            <a:avLst/>
          </a:prstGeom>
          <a:solidFill>
            <a:srgbClr val="5C8E87"/>
          </a:solidFill>
          <a:ln cap="flat" cmpd="sng" w="28575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716550" y="2532738"/>
            <a:ext cx="4508100" cy="2466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804569" y="2580432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9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 flipH="1">
            <a:off x="804207" y="2573254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9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1045500" y="2674788"/>
            <a:ext cx="179400" cy="0"/>
          </a:xfrm>
          <a:prstGeom prst="straightConnector1">
            <a:avLst/>
          </a:prstGeom>
          <a:noFill/>
          <a:ln cap="flat" cmpd="sng" w="38100">
            <a:solidFill>
              <a:srgbClr val="49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/>
          <p:nvPr/>
        </p:nvSpPr>
        <p:spPr>
          <a:xfrm>
            <a:off x="5371032" y="493025"/>
            <a:ext cx="2972400" cy="2518800"/>
          </a:xfrm>
          <a:prstGeom prst="rect">
            <a:avLst/>
          </a:prstGeom>
          <a:solidFill>
            <a:srgbClr val="D9B44A"/>
          </a:solidFill>
          <a:ln cap="flat" cmpd="sng" w="381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371032" y="496750"/>
            <a:ext cx="2972400" cy="348000"/>
          </a:xfrm>
          <a:prstGeom prst="rect">
            <a:avLst/>
          </a:prstGeom>
          <a:solidFill>
            <a:srgbClr val="B59538"/>
          </a:solidFill>
          <a:ln cap="flat" cmpd="sng" w="381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3"/>
          <p:cNvCxnSpPr/>
          <p:nvPr/>
        </p:nvCxnSpPr>
        <p:spPr>
          <a:xfrm>
            <a:off x="8047230" y="591541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/>
          <p:nvPr/>
        </p:nvCxnSpPr>
        <p:spPr>
          <a:xfrm flipH="1">
            <a:off x="8046868" y="584363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/>
          <p:nvPr/>
        </p:nvSpPr>
        <p:spPr>
          <a:xfrm>
            <a:off x="5844875" y="1096000"/>
            <a:ext cx="1986900" cy="1580400"/>
          </a:xfrm>
          <a:prstGeom prst="triangle">
            <a:avLst>
              <a:gd fmla="val 50000" name="adj"/>
            </a:avLst>
          </a:prstGeom>
          <a:solidFill>
            <a:srgbClr val="D9B44A"/>
          </a:solidFill>
          <a:ln cap="flat" cmpd="sng" w="762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6540431" y="1096000"/>
            <a:ext cx="912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0">
                <a:solidFill>
                  <a:srgbClr val="A1832F"/>
                </a:solidFill>
              </a:rPr>
              <a:t>!</a:t>
            </a:r>
            <a:endParaRPr b="1" sz="10500">
              <a:solidFill>
                <a:srgbClr val="A1832F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079450" y="1006746"/>
            <a:ext cx="4543200" cy="35709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079450" y="1006758"/>
            <a:ext cx="4543200" cy="381000"/>
          </a:xfrm>
          <a:prstGeom prst="rect">
            <a:avLst/>
          </a:prstGeom>
          <a:solidFill>
            <a:srgbClr val="4F6457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2083512" y="4309455"/>
            <a:ext cx="4535100" cy="256800"/>
          </a:xfrm>
          <a:prstGeom prst="rect">
            <a:avLst/>
          </a:prstGeom>
          <a:solidFill>
            <a:srgbClr val="4F6457"/>
          </a:solidFill>
          <a:ln cap="flat" cmpd="sng" w="38100">
            <a:solidFill>
              <a:srgbClr val="4F6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3"/>
          <p:cNvCxnSpPr/>
          <p:nvPr/>
        </p:nvCxnSpPr>
        <p:spPr>
          <a:xfrm>
            <a:off x="2245444" y="1118157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 flipH="1">
            <a:off x="2245082" y="1110979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/>
          <p:nvPr/>
        </p:nvSpPr>
        <p:spPr>
          <a:xfrm>
            <a:off x="2569585" y="1125379"/>
            <a:ext cx="153900" cy="165600"/>
          </a:xfrm>
          <a:prstGeom prst="rect">
            <a:avLst/>
          </a:prstGeom>
          <a:noFill/>
          <a:ln cap="flat" cmpd="sng" w="1905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2536762" y="1096233"/>
            <a:ext cx="153900" cy="165600"/>
          </a:xfrm>
          <a:prstGeom prst="rect">
            <a:avLst/>
          </a:prstGeom>
          <a:solidFill>
            <a:srgbClr val="4F6457"/>
          </a:solidFill>
          <a:ln cap="flat" cmpd="sng" w="1905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3"/>
          <p:cNvCxnSpPr/>
          <p:nvPr/>
        </p:nvCxnSpPr>
        <p:spPr>
          <a:xfrm>
            <a:off x="2828086" y="1190266"/>
            <a:ext cx="210300" cy="6600"/>
          </a:xfrm>
          <a:prstGeom prst="straightConnector1">
            <a:avLst/>
          </a:prstGeom>
          <a:noFill/>
          <a:ln cap="flat" cmpd="sng" w="28575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 txBox="1"/>
          <p:nvPr/>
        </p:nvSpPr>
        <p:spPr>
          <a:xfrm>
            <a:off x="2123730" y="4173476"/>
            <a:ext cx="332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900">
                <a:solidFill>
                  <a:srgbClr val="A1832F"/>
                </a:solidFill>
              </a:rPr>
              <a:t>&lt;</a:t>
            </a:r>
            <a:endParaRPr b="1" sz="1900">
              <a:solidFill>
                <a:srgbClr val="A1832F"/>
              </a:solidFill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2487066" y="4309455"/>
            <a:ext cx="1947900" cy="256800"/>
          </a:xfrm>
          <a:prstGeom prst="rect">
            <a:avLst/>
          </a:prstGeom>
          <a:solidFill>
            <a:srgbClr val="D9B44A"/>
          </a:solidFill>
          <a:ln cap="flat" cmpd="sng" w="28575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>
            <p:ph type="ctrTitle"/>
          </p:nvPr>
        </p:nvSpPr>
        <p:spPr>
          <a:xfrm>
            <a:off x="2536750" y="1418450"/>
            <a:ext cx="4364700" cy="199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5400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Cikls ar skaitītaju</a:t>
            </a:r>
            <a:endParaRPr sz="5400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3010336" y="3579151"/>
            <a:ext cx="5486700" cy="501000"/>
          </a:xfrm>
          <a:prstGeom prst="roundRect">
            <a:avLst>
              <a:gd fmla="val 16667" name="adj"/>
            </a:avLst>
          </a:prstGeom>
          <a:solidFill>
            <a:srgbClr val="A1832F"/>
          </a:solidFill>
          <a:ln cap="flat" cmpd="sng" w="9525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2909035" y="3477530"/>
            <a:ext cx="5486700" cy="501000"/>
          </a:xfrm>
          <a:prstGeom prst="roundRect">
            <a:avLst>
              <a:gd fmla="val 16667" name="adj"/>
            </a:avLst>
          </a:prstGeom>
          <a:solidFill>
            <a:srgbClr val="D9B44A"/>
          </a:solidFill>
          <a:ln cap="flat" cmpd="sng" w="38100">
            <a:solidFill>
              <a:srgbClr val="B59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666248" y="3445343"/>
            <a:ext cx="4267200" cy="56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rgbClr val="A1832F"/>
                </a:solidFill>
                <a:latin typeface="Lexend Black"/>
                <a:ea typeface="Lexend Black"/>
                <a:cs typeface="Lexend Black"/>
                <a:sym typeface="Lexend Black"/>
              </a:rPr>
              <a:t>KIRA BELOVINCEVA 2PT-1</a:t>
            </a:r>
            <a:endParaRPr sz="2300">
              <a:solidFill>
                <a:srgbClr val="A1832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391775" y="1653551"/>
            <a:ext cx="418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40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Cikls ar skaitītaju</a:t>
            </a:r>
            <a:endParaRPr sz="540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677100" y="463550"/>
            <a:ext cx="3618300" cy="1502700"/>
          </a:xfrm>
          <a:prstGeom prst="rect">
            <a:avLst/>
          </a:prstGeom>
          <a:solidFill>
            <a:srgbClr val="D9B44A"/>
          </a:solidFill>
          <a:ln cap="flat" cmpd="sng" w="28575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677100" y="463425"/>
            <a:ext cx="3618300" cy="246600"/>
          </a:xfrm>
          <a:prstGeom prst="rect">
            <a:avLst/>
          </a:prstGeom>
          <a:solidFill>
            <a:srgbClr val="4F6457"/>
          </a:solidFill>
          <a:ln cap="flat" cmpd="sng" w="28575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4"/>
          <p:cNvCxnSpPr/>
          <p:nvPr/>
        </p:nvCxnSpPr>
        <p:spPr>
          <a:xfrm>
            <a:off x="744769" y="5111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/>
          <p:nvPr/>
        </p:nvCxnSpPr>
        <p:spPr>
          <a:xfrm flipH="1">
            <a:off x="744407" y="5039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 txBox="1"/>
          <p:nvPr>
            <p:ph type="title"/>
          </p:nvPr>
        </p:nvSpPr>
        <p:spPr>
          <a:xfrm>
            <a:off x="1087800" y="984600"/>
            <a:ext cx="32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420">
                <a:solidFill>
                  <a:srgbClr val="A1832F"/>
                </a:solidFill>
                <a:latin typeface="Lexend Black"/>
                <a:ea typeface="Lexend Black"/>
                <a:cs typeface="Lexend Black"/>
                <a:sym typeface="Lexend Black"/>
              </a:rPr>
              <a:t>KAS TAS IR?</a:t>
            </a:r>
            <a:endParaRPr sz="3420">
              <a:solidFill>
                <a:srgbClr val="A1832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1035075" y="984600"/>
            <a:ext cx="32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420">
                <a:solidFill>
                  <a:srgbClr val="CD9837"/>
                </a:solidFill>
                <a:latin typeface="Lexend Black"/>
                <a:ea typeface="Lexend Black"/>
                <a:cs typeface="Lexend Black"/>
                <a:sym typeface="Lexend Black"/>
              </a:rPr>
              <a:t>KAS TAS IR?</a:t>
            </a:r>
            <a:endParaRPr sz="3420">
              <a:solidFill>
                <a:srgbClr val="CD9837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16450" y="1689850"/>
            <a:ext cx="3087600" cy="30129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1035075" y="1831875"/>
            <a:ext cx="2424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C++ programmēšanas valodā for operators tiek izmantots, lai izveidotu ciklu, kas veic atkārtotu koda bloku noteiktu reižu skaitu.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3424150" y="2669175"/>
            <a:ext cx="1839000" cy="19287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3424150" y="2669175"/>
            <a:ext cx="1839000" cy="329100"/>
          </a:xfrm>
          <a:prstGeom prst="rect">
            <a:avLst/>
          </a:prstGeom>
          <a:solidFill>
            <a:srgbClr val="46746E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3637150" y="3207425"/>
            <a:ext cx="1413000" cy="1069200"/>
          </a:xfrm>
          <a:prstGeom prst="triangle">
            <a:avLst>
              <a:gd fmla="val 50000" name="adj"/>
            </a:avLst>
          </a:prstGeom>
          <a:solidFill>
            <a:srgbClr val="629C94"/>
          </a:solidFill>
          <a:ln cap="flat" cmpd="sng" w="762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F544F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033200" y="3297375"/>
            <a:ext cx="1884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?</a:t>
            </a:r>
            <a:endParaRPr sz="64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4994019" y="2758107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2F54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4"/>
          <p:cNvCxnSpPr/>
          <p:nvPr/>
        </p:nvCxnSpPr>
        <p:spPr>
          <a:xfrm flipH="1">
            <a:off x="4993657" y="2750929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2F54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/>
          <p:nvPr/>
        </p:nvSpPr>
        <p:spPr>
          <a:xfrm>
            <a:off x="5559450" y="574725"/>
            <a:ext cx="3052500" cy="38019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559450" y="574725"/>
            <a:ext cx="3052500" cy="329100"/>
          </a:xfrm>
          <a:prstGeom prst="rect">
            <a:avLst/>
          </a:prstGeom>
          <a:solidFill>
            <a:srgbClr val="4F6457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559450" y="4211325"/>
            <a:ext cx="3052500" cy="165300"/>
          </a:xfrm>
          <a:prstGeom prst="rect">
            <a:avLst/>
          </a:prstGeom>
          <a:solidFill>
            <a:srgbClr val="4F6457"/>
          </a:solidFill>
          <a:ln cap="flat" cmpd="sng" w="38100">
            <a:solidFill>
              <a:srgbClr val="49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04800" y="984600"/>
            <a:ext cx="2761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700">
                <a:solidFill>
                  <a:srgbClr val="49746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Izveidot karti programmā C++:</a:t>
            </a:r>
            <a:endParaRPr b="1" i="1" sz="1700">
              <a:solidFill>
                <a:srgbClr val="49746E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43650" y="1371075"/>
            <a:ext cx="2684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A64D79"/>
                </a:solidFill>
              </a:rPr>
              <a:t>for </a:t>
            </a:r>
            <a:r>
              <a:rPr lang="ru" sz="2200">
                <a:solidFill>
                  <a:srgbClr val="C7CCBE"/>
                </a:solidFill>
              </a:rPr>
              <a:t>(</a:t>
            </a:r>
            <a:r>
              <a:rPr i="1" lang="ru" sz="2200">
                <a:solidFill>
                  <a:srgbClr val="38761D"/>
                </a:solidFill>
              </a:rPr>
              <a:t>statement 1</a:t>
            </a:r>
            <a:r>
              <a:rPr lang="ru" sz="2200">
                <a:solidFill>
                  <a:srgbClr val="38761D"/>
                </a:solidFill>
              </a:rPr>
              <a:t>;</a:t>
            </a:r>
            <a:r>
              <a:rPr i="1" lang="ru" sz="2200">
                <a:solidFill>
                  <a:srgbClr val="38761D"/>
                </a:solidFill>
              </a:rPr>
              <a:t> statement 2</a:t>
            </a:r>
            <a:r>
              <a:rPr lang="ru" sz="2200">
                <a:solidFill>
                  <a:srgbClr val="38761D"/>
                </a:solidFill>
              </a:rPr>
              <a:t>;</a:t>
            </a:r>
            <a:r>
              <a:rPr i="1" lang="ru" sz="2200">
                <a:solidFill>
                  <a:srgbClr val="38761D"/>
                </a:solidFill>
              </a:rPr>
              <a:t> statement 3</a:t>
            </a:r>
            <a:r>
              <a:rPr lang="ru" sz="2200">
                <a:solidFill>
                  <a:srgbClr val="C7CCBE"/>
                </a:solidFill>
              </a:rPr>
              <a:t>) {</a:t>
            </a:r>
            <a:endParaRPr sz="2200">
              <a:solidFill>
                <a:srgbClr val="C7CCB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C7CCB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200">
                <a:solidFill>
                  <a:srgbClr val="134F5C"/>
                </a:solidFill>
              </a:rPr>
              <a:t>  </a:t>
            </a:r>
            <a:r>
              <a:rPr i="1" lang="ru" sz="2200">
                <a:solidFill>
                  <a:srgbClr val="134F5C"/>
                </a:solidFill>
              </a:rPr>
              <a:t>// code block to be executed</a:t>
            </a:r>
            <a:endParaRPr i="1" sz="2200">
              <a:solidFill>
                <a:srgbClr val="134F5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C7CCBE"/>
                </a:solidFill>
              </a:rPr>
              <a:t>}</a:t>
            </a:r>
            <a:endParaRPr sz="3300">
              <a:solidFill>
                <a:srgbClr val="C7CCB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431775" y="630650"/>
            <a:ext cx="4180800" cy="38673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190450" y="1480375"/>
            <a:ext cx="3533400" cy="2963100"/>
          </a:xfrm>
          <a:prstGeom prst="rect">
            <a:avLst/>
          </a:prstGeom>
          <a:solidFill>
            <a:srgbClr val="D9B44A"/>
          </a:solidFill>
          <a:ln cap="flat" cmpd="sng" w="381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A1832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711650" y="284025"/>
            <a:ext cx="3712200" cy="14871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711650" y="205750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5"/>
          <p:cNvCxnSpPr/>
          <p:nvPr/>
        </p:nvCxnSpPr>
        <p:spPr>
          <a:xfrm>
            <a:off x="8068669" y="303395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5"/>
          <p:cNvCxnSpPr/>
          <p:nvPr/>
        </p:nvCxnSpPr>
        <p:spPr>
          <a:xfrm flipH="1">
            <a:off x="8068307" y="296216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5"/>
          <p:cNvSpPr txBox="1"/>
          <p:nvPr>
            <p:ph type="title"/>
          </p:nvPr>
        </p:nvSpPr>
        <p:spPr>
          <a:xfrm>
            <a:off x="5067275" y="685788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114" name="Google Shape;114;p15"/>
          <p:cNvSpPr/>
          <p:nvPr/>
        </p:nvSpPr>
        <p:spPr>
          <a:xfrm>
            <a:off x="431775" y="630650"/>
            <a:ext cx="4180800" cy="346500"/>
          </a:xfrm>
          <a:prstGeom prst="rect">
            <a:avLst/>
          </a:prstGeom>
          <a:solidFill>
            <a:srgbClr val="46746E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31775" y="4497950"/>
            <a:ext cx="4180800" cy="167700"/>
          </a:xfrm>
          <a:prstGeom prst="rect">
            <a:avLst/>
          </a:prstGeom>
          <a:solidFill>
            <a:srgbClr val="46746E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067275" y="630650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32400" y="573050"/>
            <a:ext cx="64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>
                <a:solidFill>
                  <a:srgbClr val="2F544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Piemērs:</a:t>
            </a:r>
            <a:endParaRPr b="1" i="1" sz="1800">
              <a:solidFill>
                <a:srgbClr val="2F544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02425" y="1091975"/>
            <a:ext cx="4039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#</a:t>
            </a:r>
            <a:r>
              <a:rPr lang="ru" sz="2100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include</a:t>
            </a: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</a:t>
            </a:r>
            <a:r>
              <a:rPr lang="ru" sz="2100">
                <a:solidFill>
                  <a:srgbClr val="38761D"/>
                </a:solidFill>
                <a:latin typeface="Lexend Black"/>
                <a:ea typeface="Lexend Black"/>
                <a:cs typeface="Lexend Black"/>
                <a:sym typeface="Lexend Black"/>
              </a:rPr>
              <a:t>&lt;iostream&gt;</a:t>
            </a:r>
            <a:endParaRPr sz="2100">
              <a:solidFill>
                <a:srgbClr val="38761D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int </a:t>
            </a: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main() {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for (</a:t>
            </a:r>
            <a:r>
              <a:rPr lang="ru" sz="2100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int</a:t>
            </a: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i = 0; i &lt; </a:t>
            </a:r>
            <a:r>
              <a:rPr lang="ru" sz="2100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5</a:t>
            </a: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 i++) {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    cout &lt;&lt; "Vērtība i: " &lt;&lt; i &lt;&lt; endl;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}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</a:t>
            </a:r>
            <a:r>
              <a:rPr lang="ru" sz="2100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return </a:t>
            </a:r>
            <a:r>
              <a:rPr lang="ru" sz="2100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0</a:t>
            </a: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}</a:t>
            </a:r>
            <a:endParaRPr sz="2100"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400" y="2002250"/>
            <a:ext cx="3295500" cy="2158050"/>
          </a:xfrm>
          <a:prstGeom prst="rect">
            <a:avLst/>
          </a:prstGeom>
          <a:noFill/>
          <a:ln cap="flat" cmpd="sng" w="381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2651288" y="215750"/>
            <a:ext cx="3712200" cy="14871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2651288" y="137475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6"/>
          <p:cNvCxnSpPr/>
          <p:nvPr/>
        </p:nvCxnSpPr>
        <p:spPr>
          <a:xfrm>
            <a:off x="6008307" y="2351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6"/>
          <p:cNvCxnSpPr/>
          <p:nvPr/>
        </p:nvCxnSpPr>
        <p:spPr>
          <a:xfrm flipH="1">
            <a:off x="6007945" y="2279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6"/>
          <p:cNvSpPr txBox="1"/>
          <p:nvPr>
            <p:ph type="title"/>
          </p:nvPr>
        </p:nvSpPr>
        <p:spPr>
          <a:xfrm>
            <a:off x="2651288" y="748075"/>
            <a:ext cx="3795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lang="ru" sz="3244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244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t/>
            </a:r>
            <a:endParaRPr sz="3244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696813" y="748075"/>
            <a:ext cx="37959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29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100" y="1943375"/>
            <a:ext cx="5404400" cy="26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6800" y="2308125"/>
            <a:ext cx="2924500" cy="5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3768800" y="2103275"/>
            <a:ext cx="1240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700"/>
              <a:t>f</a:t>
            </a:r>
            <a:r>
              <a:rPr b="1" lang="ru" sz="5700"/>
              <a:t>or</a:t>
            </a:r>
            <a:endParaRPr b="1" sz="5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2329128" y="467108"/>
            <a:ext cx="4533000" cy="18030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2329128" y="372200"/>
            <a:ext cx="4533000" cy="4200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7"/>
          <p:cNvCxnSpPr/>
          <p:nvPr/>
        </p:nvCxnSpPr>
        <p:spPr>
          <a:xfrm>
            <a:off x="6428328" y="490594"/>
            <a:ext cx="187800" cy="1920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7"/>
          <p:cNvCxnSpPr/>
          <p:nvPr/>
        </p:nvCxnSpPr>
        <p:spPr>
          <a:xfrm flipH="1">
            <a:off x="6427919" y="481889"/>
            <a:ext cx="179100" cy="200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7"/>
          <p:cNvSpPr txBox="1"/>
          <p:nvPr>
            <p:ph type="title"/>
          </p:nvPr>
        </p:nvSpPr>
        <p:spPr>
          <a:xfrm>
            <a:off x="2356928" y="1112548"/>
            <a:ext cx="4635000" cy="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5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20"/>
          </a:p>
        </p:txBody>
      </p:sp>
      <p:sp>
        <p:nvSpPr>
          <p:cNvPr id="142" name="Google Shape;142;p17"/>
          <p:cNvSpPr txBox="1"/>
          <p:nvPr/>
        </p:nvSpPr>
        <p:spPr>
          <a:xfrm>
            <a:off x="2278118" y="1112548"/>
            <a:ext cx="4635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43750" y="2772200"/>
            <a:ext cx="8056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>
                <a:solidFill>
                  <a:srgbClr val="2F544F"/>
                </a:solidFill>
              </a:rPr>
              <a:t>for (inicializācija; nosacījums; atjaunināšana)</a:t>
            </a:r>
            <a:endParaRPr b="1" sz="4400">
              <a:solidFill>
                <a:srgbClr val="2F544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2329128" y="467108"/>
            <a:ext cx="4533000" cy="18030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2329128" y="372200"/>
            <a:ext cx="4533000" cy="4200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18"/>
          <p:cNvCxnSpPr/>
          <p:nvPr/>
        </p:nvCxnSpPr>
        <p:spPr>
          <a:xfrm>
            <a:off x="6428328" y="490594"/>
            <a:ext cx="187800" cy="1920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8"/>
          <p:cNvCxnSpPr/>
          <p:nvPr/>
        </p:nvCxnSpPr>
        <p:spPr>
          <a:xfrm flipH="1">
            <a:off x="6427919" y="481889"/>
            <a:ext cx="179100" cy="200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8"/>
          <p:cNvSpPr txBox="1"/>
          <p:nvPr>
            <p:ph type="title"/>
          </p:nvPr>
        </p:nvSpPr>
        <p:spPr>
          <a:xfrm>
            <a:off x="2356928" y="1112548"/>
            <a:ext cx="4635000" cy="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5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20"/>
          </a:p>
        </p:txBody>
      </p:sp>
      <p:sp>
        <p:nvSpPr>
          <p:cNvPr id="153" name="Google Shape;153;p18"/>
          <p:cNvSpPr txBox="1"/>
          <p:nvPr/>
        </p:nvSpPr>
        <p:spPr>
          <a:xfrm>
            <a:off x="2278118" y="1112548"/>
            <a:ext cx="4635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43750" y="2772200"/>
            <a:ext cx="8056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>
                <a:solidFill>
                  <a:srgbClr val="2F544F"/>
                </a:solidFill>
              </a:rPr>
              <a:t>for (</a:t>
            </a:r>
            <a:r>
              <a:rPr b="1" lang="ru" sz="4400" u="sng">
                <a:solidFill>
                  <a:srgbClr val="CC0000"/>
                </a:solidFill>
              </a:rPr>
              <a:t>inicializācija</a:t>
            </a:r>
            <a:r>
              <a:rPr b="1" lang="ru" sz="4400">
                <a:solidFill>
                  <a:srgbClr val="2F544F"/>
                </a:solidFill>
              </a:rPr>
              <a:t>; nosacījums; atjaunināšana)</a:t>
            </a:r>
            <a:endParaRPr b="1" sz="4400">
              <a:solidFill>
                <a:srgbClr val="2F544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2329128" y="467108"/>
            <a:ext cx="4533000" cy="18030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2329128" y="372200"/>
            <a:ext cx="4533000" cy="4200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19"/>
          <p:cNvCxnSpPr/>
          <p:nvPr/>
        </p:nvCxnSpPr>
        <p:spPr>
          <a:xfrm>
            <a:off x="6428328" y="490594"/>
            <a:ext cx="187800" cy="1920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/>
          <p:nvPr/>
        </p:nvCxnSpPr>
        <p:spPr>
          <a:xfrm flipH="1">
            <a:off x="6427919" y="481889"/>
            <a:ext cx="179100" cy="200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9"/>
          <p:cNvSpPr txBox="1"/>
          <p:nvPr>
            <p:ph type="title"/>
          </p:nvPr>
        </p:nvSpPr>
        <p:spPr>
          <a:xfrm>
            <a:off x="2356928" y="1112548"/>
            <a:ext cx="4635000" cy="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5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20"/>
          </a:p>
        </p:txBody>
      </p:sp>
      <p:sp>
        <p:nvSpPr>
          <p:cNvPr id="164" name="Google Shape;164;p19"/>
          <p:cNvSpPr txBox="1"/>
          <p:nvPr/>
        </p:nvSpPr>
        <p:spPr>
          <a:xfrm>
            <a:off x="2278118" y="1112548"/>
            <a:ext cx="4635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43750" y="2772200"/>
            <a:ext cx="8056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>
                <a:solidFill>
                  <a:srgbClr val="2F544F"/>
                </a:solidFill>
              </a:rPr>
              <a:t>for (inicializācija; </a:t>
            </a:r>
            <a:r>
              <a:rPr b="1" lang="ru" sz="4400" u="sng">
                <a:solidFill>
                  <a:srgbClr val="CC0000"/>
                </a:solidFill>
              </a:rPr>
              <a:t>nosacījums</a:t>
            </a:r>
            <a:r>
              <a:rPr b="1" lang="ru" sz="4400">
                <a:solidFill>
                  <a:srgbClr val="2F544F"/>
                </a:solidFill>
              </a:rPr>
              <a:t>; atjaunināšana)</a:t>
            </a:r>
            <a:endParaRPr b="1" sz="4400">
              <a:solidFill>
                <a:srgbClr val="2F54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2329128" y="467108"/>
            <a:ext cx="4533000" cy="18030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2329128" y="372200"/>
            <a:ext cx="4533000" cy="4200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20"/>
          <p:cNvCxnSpPr/>
          <p:nvPr/>
        </p:nvCxnSpPr>
        <p:spPr>
          <a:xfrm>
            <a:off x="6428328" y="490594"/>
            <a:ext cx="187800" cy="1920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 flipH="1">
            <a:off x="6427919" y="481889"/>
            <a:ext cx="179100" cy="200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>
            <p:ph type="title"/>
          </p:nvPr>
        </p:nvSpPr>
        <p:spPr>
          <a:xfrm>
            <a:off x="2356928" y="1112548"/>
            <a:ext cx="4635000" cy="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5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20"/>
          </a:p>
        </p:txBody>
      </p:sp>
      <p:sp>
        <p:nvSpPr>
          <p:cNvPr id="175" name="Google Shape;175;p20"/>
          <p:cNvSpPr txBox="1"/>
          <p:nvPr/>
        </p:nvSpPr>
        <p:spPr>
          <a:xfrm>
            <a:off x="2278118" y="1112548"/>
            <a:ext cx="46350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Darbības princips</a:t>
            </a:r>
            <a:endParaRPr sz="35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44">
              <a:solidFill>
                <a:srgbClr val="629C94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3750" y="2772200"/>
            <a:ext cx="8056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400">
                <a:solidFill>
                  <a:srgbClr val="2F544F"/>
                </a:solidFill>
              </a:rPr>
              <a:t>for (inicializācija; nosacījums; </a:t>
            </a:r>
            <a:r>
              <a:rPr b="1" lang="ru" sz="4400" u="sng">
                <a:solidFill>
                  <a:srgbClr val="CC0000"/>
                </a:solidFill>
              </a:rPr>
              <a:t>atjaunināšana</a:t>
            </a:r>
            <a:r>
              <a:rPr b="1" lang="ru" sz="4400">
                <a:solidFill>
                  <a:srgbClr val="2F544F"/>
                </a:solidFill>
              </a:rPr>
              <a:t>)</a:t>
            </a:r>
            <a:endParaRPr b="1" sz="4400">
              <a:solidFill>
                <a:srgbClr val="2F54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431775" y="630650"/>
            <a:ext cx="4180800" cy="38673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1"/>
          <p:cNvCxnSpPr/>
          <p:nvPr/>
        </p:nvCxnSpPr>
        <p:spPr>
          <a:xfrm>
            <a:off x="7468582" y="3375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1"/>
          <p:cNvCxnSpPr/>
          <p:nvPr/>
        </p:nvCxnSpPr>
        <p:spPr>
          <a:xfrm flipH="1">
            <a:off x="7468220" y="3303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1"/>
          <p:cNvSpPr/>
          <p:nvPr/>
        </p:nvSpPr>
        <p:spPr>
          <a:xfrm>
            <a:off x="431775" y="630650"/>
            <a:ext cx="4180800" cy="346500"/>
          </a:xfrm>
          <a:prstGeom prst="rect">
            <a:avLst/>
          </a:prstGeom>
          <a:solidFill>
            <a:srgbClr val="46746E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1775" y="4497950"/>
            <a:ext cx="4180800" cy="167700"/>
          </a:xfrm>
          <a:prstGeom prst="rect">
            <a:avLst/>
          </a:prstGeom>
          <a:solidFill>
            <a:srgbClr val="46746E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32400" y="573050"/>
            <a:ext cx="36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>
                <a:solidFill>
                  <a:srgbClr val="2F544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Piemērs:</a:t>
            </a:r>
            <a:endParaRPr b="1" i="1" sz="1800">
              <a:solidFill>
                <a:srgbClr val="2F544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02425" y="921275"/>
            <a:ext cx="40395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#</a:t>
            </a:r>
            <a:r>
              <a:rPr lang="ru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include </a:t>
            </a:r>
            <a:r>
              <a:rPr lang="ru">
                <a:solidFill>
                  <a:srgbClr val="38761D"/>
                </a:solidFill>
                <a:latin typeface="Lexend Black"/>
                <a:ea typeface="Lexend Black"/>
                <a:cs typeface="Lexend Black"/>
                <a:sym typeface="Lexend Black"/>
              </a:rPr>
              <a:t>&lt;iostream&gt;</a:t>
            </a:r>
            <a:endParaRPr>
              <a:solidFill>
                <a:srgbClr val="38761D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using namespace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std;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int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main() {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</a:t>
            </a:r>
            <a:r>
              <a:rPr lang="ru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for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(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int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i =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1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 i &lt;=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2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 ++i) {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	cout &lt;&lt; "</a:t>
            </a:r>
            <a:r>
              <a:rPr lang="ru">
                <a:solidFill>
                  <a:srgbClr val="D9B44A"/>
                </a:solidFill>
                <a:latin typeface="Lexend Black"/>
                <a:ea typeface="Lexend Black"/>
                <a:cs typeface="Lexend Black"/>
                <a:sym typeface="Lexend Black"/>
              </a:rPr>
              <a:t>Ārējs: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" &lt;&lt;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&lt;&lt; "\n"; 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  <a:latin typeface="Lexend Black"/>
                <a:ea typeface="Lexend Black"/>
                <a:cs typeface="Lexend Black"/>
                <a:sym typeface="Lexend Black"/>
              </a:rPr>
              <a:t> // Izpilda 2 reizes</a:t>
            </a:r>
            <a:endParaRPr>
              <a:solidFill>
                <a:srgbClr val="38761D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</a:t>
            </a:r>
            <a:r>
              <a:rPr lang="ru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for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(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int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j =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1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 j &lt;=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3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 ++j) {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     cout &lt;&lt; "</a:t>
            </a:r>
            <a:r>
              <a:rPr lang="ru">
                <a:solidFill>
                  <a:srgbClr val="D9B44A"/>
                </a:solidFill>
                <a:latin typeface="Lexend Black"/>
                <a:ea typeface="Lexend Black"/>
                <a:cs typeface="Lexend Black"/>
                <a:sym typeface="Lexend Black"/>
              </a:rPr>
              <a:t>Iekšējais elements: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" &lt;&lt;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j 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&lt;&lt; "\n"; 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761D"/>
                </a:solidFill>
                <a:latin typeface="Lexend Black"/>
                <a:ea typeface="Lexend Black"/>
                <a:cs typeface="Lexend Black"/>
                <a:sym typeface="Lexend Black"/>
              </a:rPr>
              <a:t> // Izpilda 6 reizes (2 * 3)</a:t>
            </a:r>
            <a:endParaRPr>
              <a:solidFill>
                <a:srgbClr val="38761D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	}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}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  </a:t>
            </a:r>
            <a:r>
              <a:rPr lang="ru">
                <a:solidFill>
                  <a:srgbClr val="1155CC"/>
                </a:solidFill>
                <a:latin typeface="Lexend Black"/>
                <a:ea typeface="Lexend Black"/>
                <a:cs typeface="Lexend Black"/>
                <a:sym typeface="Lexend Black"/>
              </a:rPr>
              <a:t>return </a:t>
            </a:r>
            <a:r>
              <a:rPr lang="ru">
                <a:solidFill>
                  <a:srgbClr val="A64D79"/>
                </a:solidFill>
                <a:latin typeface="Lexend Black"/>
                <a:ea typeface="Lexend Black"/>
                <a:cs typeface="Lexend Black"/>
                <a:sym typeface="Lexend Black"/>
              </a:rPr>
              <a:t>0</a:t>
            </a: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;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Black"/>
                <a:ea typeface="Lexend Black"/>
                <a:cs typeface="Lexend Black"/>
                <a:sym typeface="Lexend Black"/>
              </a:rPr>
              <a:t>}</a:t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839838" y="279050"/>
            <a:ext cx="3666000" cy="13818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4839838" y="200775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21"/>
          <p:cNvCxnSpPr/>
          <p:nvPr/>
        </p:nvCxnSpPr>
        <p:spPr>
          <a:xfrm>
            <a:off x="8196857" y="2984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1"/>
          <p:cNvCxnSpPr/>
          <p:nvPr/>
        </p:nvCxnSpPr>
        <p:spPr>
          <a:xfrm flipH="1">
            <a:off x="8196495" y="2912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1"/>
          <p:cNvSpPr txBox="1"/>
          <p:nvPr>
            <p:ph type="title"/>
          </p:nvPr>
        </p:nvSpPr>
        <p:spPr>
          <a:xfrm>
            <a:off x="5195463" y="680813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193" name="Google Shape;193;p21"/>
          <p:cNvSpPr txBox="1"/>
          <p:nvPr/>
        </p:nvSpPr>
        <p:spPr>
          <a:xfrm>
            <a:off x="5195463" y="625675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713" y="2109125"/>
            <a:ext cx="4226625" cy="2058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/>
          <p:nvPr/>
        </p:nvSpPr>
        <p:spPr>
          <a:xfrm>
            <a:off x="4910925" y="530000"/>
            <a:ext cx="3790500" cy="4183200"/>
          </a:xfrm>
          <a:prstGeom prst="rect">
            <a:avLst/>
          </a:prstGeom>
          <a:solidFill>
            <a:srgbClr val="D9B44A"/>
          </a:solidFill>
          <a:ln cap="flat" cmpd="sng" w="38100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045100" y="540000"/>
            <a:ext cx="36564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#</a:t>
            </a:r>
            <a:r>
              <a:rPr lang="ru" sz="15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include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 sz="1500">
                <a:solidFill>
                  <a:srgbClr val="5C8E8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&lt;iostream&gt;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using namespace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 sz="1500">
                <a:solidFill>
                  <a:srgbClr val="5C8E8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std;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main() {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num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sum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sum 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=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cout &lt;&lt; </a:t>
            </a:r>
            <a:r>
              <a:rPr lang="ru" sz="1500">
                <a:solidFill>
                  <a:srgbClr val="5C8E8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"Enter a positive integer: "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cin &gt;&gt;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num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5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for 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i =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i &lt;=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num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++i) {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   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sum 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+= i;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}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cout &lt;&lt; </a:t>
            </a:r>
            <a:r>
              <a:rPr lang="ru" sz="1500">
                <a:solidFill>
                  <a:srgbClr val="5C8E8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"Sum = " 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sum 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endl;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5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return </a:t>
            </a:r>
            <a:r>
              <a:rPr lang="ru" sz="15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A1832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}</a:t>
            </a:r>
            <a:endParaRPr sz="1500"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1832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cxnSp>
        <p:nvCxnSpPr>
          <p:cNvPr id="201" name="Google Shape;201;p22"/>
          <p:cNvCxnSpPr/>
          <p:nvPr/>
        </p:nvCxnSpPr>
        <p:spPr>
          <a:xfrm>
            <a:off x="3042007" y="326145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2"/>
          <p:cNvCxnSpPr/>
          <p:nvPr/>
        </p:nvCxnSpPr>
        <p:spPr>
          <a:xfrm flipH="1">
            <a:off x="3041645" y="318966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413263" y="267675"/>
            <a:ext cx="3666000" cy="13818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13263" y="189400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p22"/>
          <p:cNvCxnSpPr/>
          <p:nvPr/>
        </p:nvCxnSpPr>
        <p:spPr>
          <a:xfrm>
            <a:off x="3770282" y="287045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2"/>
          <p:cNvCxnSpPr/>
          <p:nvPr/>
        </p:nvCxnSpPr>
        <p:spPr>
          <a:xfrm flipH="1">
            <a:off x="3769920" y="279866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2"/>
          <p:cNvSpPr txBox="1"/>
          <p:nvPr>
            <p:ph type="title"/>
          </p:nvPr>
        </p:nvSpPr>
        <p:spPr>
          <a:xfrm>
            <a:off x="768888" y="669438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208" name="Google Shape;208;p22"/>
          <p:cNvSpPr txBox="1"/>
          <p:nvPr/>
        </p:nvSpPr>
        <p:spPr>
          <a:xfrm>
            <a:off x="768888" y="614300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25" y="2042625"/>
            <a:ext cx="4028775" cy="19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/>
          <p:nvPr/>
        </p:nvSpPr>
        <p:spPr>
          <a:xfrm>
            <a:off x="4661450" y="201800"/>
            <a:ext cx="3790500" cy="45234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3C6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4664925" y="201775"/>
            <a:ext cx="3790500" cy="313200"/>
          </a:xfrm>
          <a:prstGeom prst="rect">
            <a:avLst/>
          </a:prstGeom>
          <a:solidFill>
            <a:srgbClr val="49746E"/>
          </a:solidFill>
          <a:ln cap="flat" cmpd="sng" w="38100">
            <a:solidFill>
              <a:srgbClr val="3C6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800">
                <a:solidFill>
                  <a:srgbClr val="2F544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Piemērs:</a:t>
            </a:r>
            <a:endParaRPr/>
          </a:p>
        </p:txBody>
      </p:sp>
      <p:cxnSp>
        <p:nvCxnSpPr>
          <p:cNvPr id="216" name="Google Shape;216;p23"/>
          <p:cNvCxnSpPr/>
          <p:nvPr/>
        </p:nvCxnSpPr>
        <p:spPr>
          <a:xfrm>
            <a:off x="8184169" y="286382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3"/>
          <p:cNvCxnSpPr/>
          <p:nvPr/>
        </p:nvCxnSpPr>
        <p:spPr>
          <a:xfrm flipH="1">
            <a:off x="8183807" y="279204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3"/>
          <p:cNvSpPr txBox="1"/>
          <p:nvPr/>
        </p:nvSpPr>
        <p:spPr>
          <a:xfrm>
            <a:off x="4810300" y="664175"/>
            <a:ext cx="3520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#</a:t>
            </a:r>
            <a:r>
              <a:rPr lang="ru" sz="17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include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 sz="1700">
                <a:solidFill>
                  <a:srgbClr val="38761D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&lt;iostream&gt;</a:t>
            </a:r>
            <a:endParaRPr sz="1700">
              <a:solidFill>
                <a:srgbClr val="38761D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using namespace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 sz="1700">
                <a:solidFill>
                  <a:srgbClr val="38761D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std;</a:t>
            </a:r>
            <a:endParaRPr sz="1700">
              <a:solidFill>
                <a:srgbClr val="38761D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</a:t>
            </a:r>
            <a:r>
              <a:rPr lang="ru" sz="1700">
                <a:solidFill>
                  <a:srgbClr val="CC4125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main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()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{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i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j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k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7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for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 =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j =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10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k =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20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(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+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j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+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k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) &lt;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100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j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++,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k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--,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+=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k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) {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cout &lt;&lt;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" " &lt;&lt;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j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" " &lt;&lt;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k 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"</a:t>
            </a:r>
            <a:r>
              <a:rPr lang="ru" sz="1700">
                <a:solidFill>
                  <a:srgbClr val="741B4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\n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";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}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17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return </a:t>
            </a:r>
            <a:r>
              <a:rPr lang="ru" sz="17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}</a:t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F544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>
            <a:off x="3042007" y="326145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3"/>
          <p:cNvCxnSpPr/>
          <p:nvPr/>
        </p:nvCxnSpPr>
        <p:spPr>
          <a:xfrm flipH="1">
            <a:off x="3041645" y="318966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3"/>
          <p:cNvSpPr/>
          <p:nvPr/>
        </p:nvSpPr>
        <p:spPr>
          <a:xfrm>
            <a:off x="413263" y="267675"/>
            <a:ext cx="3666000" cy="13818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413263" y="189400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23"/>
          <p:cNvCxnSpPr/>
          <p:nvPr/>
        </p:nvCxnSpPr>
        <p:spPr>
          <a:xfrm>
            <a:off x="3770282" y="287045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3"/>
          <p:cNvCxnSpPr/>
          <p:nvPr/>
        </p:nvCxnSpPr>
        <p:spPr>
          <a:xfrm flipH="1">
            <a:off x="3769920" y="279866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3"/>
          <p:cNvSpPr txBox="1"/>
          <p:nvPr>
            <p:ph type="title"/>
          </p:nvPr>
        </p:nvSpPr>
        <p:spPr>
          <a:xfrm>
            <a:off x="768888" y="669438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226" name="Google Shape;226;p23"/>
          <p:cNvSpPr txBox="1"/>
          <p:nvPr/>
        </p:nvSpPr>
        <p:spPr>
          <a:xfrm>
            <a:off x="768888" y="614300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898" y="1917200"/>
            <a:ext cx="2676275" cy="26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/>
          <p:nvPr/>
        </p:nvSpPr>
        <p:spPr>
          <a:xfrm>
            <a:off x="401275" y="206851"/>
            <a:ext cx="4092300" cy="47298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3C6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405027" y="206825"/>
            <a:ext cx="4092300" cy="327600"/>
          </a:xfrm>
          <a:prstGeom prst="rect">
            <a:avLst/>
          </a:prstGeom>
          <a:solidFill>
            <a:srgbClr val="49746E"/>
          </a:solidFill>
          <a:ln cap="flat" cmpd="sng" w="38100">
            <a:solidFill>
              <a:srgbClr val="3C6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800">
                <a:solidFill>
                  <a:srgbClr val="2F544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Piemērs:</a:t>
            </a:r>
            <a:endParaRPr/>
          </a:p>
        </p:txBody>
      </p:sp>
      <p:cxnSp>
        <p:nvCxnSpPr>
          <p:cNvPr id="234" name="Google Shape;234;p24"/>
          <p:cNvCxnSpPr/>
          <p:nvPr/>
        </p:nvCxnSpPr>
        <p:spPr>
          <a:xfrm>
            <a:off x="4204379" y="295292"/>
            <a:ext cx="166200" cy="1656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4"/>
          <p:cNvCxnSpPr/>
          <p:nvPr/>
        </p:nvCxnSpPr>
        <p:spPr>
          <a:xfrm flipH="1">
            <a:off x="4203965" y="287786"/>
            <a:ext cx="158400" cy="1728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4"/>
          <p:cNvSpPr txBox="1"/>
          <p:nvPr/>
        </p:nvSpPr>
        <p:spPr>
          <a:xfrm>
            <a:off x="561972" y="690319"/>
            <a:ext cx="38004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#</a:t>
            </a:r>
            <a:r>
              <a:rPr lang="ru" sz="20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include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 sz="2000">
                <a:solidFill>
                  <a:srgbClr val="38761D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&lt;iostream&gt;</a:t>
            </a:r>
            <a:endParaRPr sz="2000">
              <a:solidFill>
                <a:srgbClr val="38761D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3C78D8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using namespace 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std;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</a:t>
            </a:r>
            <a:r>
              <a:rPr lang="ru" sz="2000">
                <a:solidFill>
                  <a:srgbClr val="CC4125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main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() {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</a:t>
            </a:r>
            <a:r>
              <a:rPr lang="ru" sz="2000">
                <a:solidFill>
                  <a:srgbClr val="CD983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array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[] = {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2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3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4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,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5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};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20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for 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i =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i &lt;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5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i++) {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  cout &lt;&lt; </a:t>
            </a:r>
            <a:r>
              <a:rPr lang="ru" sz="2000">
                <a:solidFill>
                  <a:srgbClr val="CD983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array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[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] &lt;&lt; " ";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}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 sz="2000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return </a:t>
            </a:r>
            <a:r>
              <a:rPr lang="ru" sz="2000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}</a:t>
            </a:r>
            <a:endParaRPr sz="2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cxnSp>
        <p:nvCxnSpPr>
          <p:cNvPr id="237" name="Google Shape;237;p24"/>
          <p:cNvCxnSpPr/>
          <p:nvPr/>
        </p:nvCxnSpPr>
        <p:spPr>
          <a:xfrm>
            <a:off x="7566269" y="4245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4"/>
          <p:cNvCxnSpPr/>
          <p:nvPr/>
        </p:nvCxnSpPr>
        <p:spPr>
          <a:xfrm flipH="1">
            <a:off x="7565907" y="4173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4"/>
          <p:cNvSpPr/>
          <p:nvPr/>
        </p:nvSpPr>
        <p:spPr>
          <a:xfrm>
            <a:off x="4937525" y="366050"/>
            <a:ext cx="3666000" cy="13818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4937525" y="287775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24"/>
          <p:cNvCxnSpPr/>
          <p:nvPr/>
        </p:nvCxnSpPr>
        <p:spPr>
          <a:xfrm>
            <a:off x="8294544" y="38542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4"/>
          <p:cNvCxnSpPr/>
          <p:nvPr/>
        </p:nvCxnSpPr>
        <p:spPr>
          <a:xfrm flipH="1">
            <a:off x="8294182" y="37824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4"/>
          <p:cNvSpPr txBox="1"/>
          <p:nvPr>
            <p:ph type="title"/>
          </p:nvPr>
        </p:nvSpPr>
        <p:spPr>
          <a:xfrm>
            <a:off x="5293150" y="767813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244" name="Google Shape;244;p24"/>
          <p:cNvSpPr txBox="1"/>
          <p:nvPr/>
        </p:nvSpPr>
        <p:spPr>
          <a:xfrm>
            <a:off x="5293150" y="712675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pic>
        <p:nvPicPr>
          <p:cNvPr id="245" name="Google Shape;2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775" y="3542800"/>
            <a:ext cx="4149500" cy="981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/>
        </p:nvSpPr>
        <p:spPr>
          <a:xfrm>
            <a:off x="4732150" y="436100"/>
            <a:ext cx="4047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>
                <a:solidFill>
                  <a:srgbClr val="AACCDD"/>
                </a:solidFill>
                <a:latin typeface="Lexend Black"/>
                <a:ea typeface="Lexend Black"/>
                <a:cs typeface="Lexend Black"/>
                <a:sym typeface="Lexend Black"/>
              </a:rPr>
              <a:t>Function erase()</a:t>
            </a:r>
            <a:endParaRPr sz="3400">
              <a:solidFill>
                <a:srgbClr val="AACCDD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67075" y="149876"/>
            <a:ext cx="4092300" cy="4729800"/>
          </a:xfrm>
          <a:prstGeom prst="rect">
            <a:avLst/>
          </a:prstGeom>
          <a:solidFill>
            <a:srgbClr val="5C8E87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270827" y="149850"/>
            <a:ext cx="4092300" cy="327600"/>
          </a:xfrm>
          <a:prstGeom prst="rect">
            <a:avLst/>
          </a:prstGeom>
          <a:solidFill>
            <a:srgbClr val="395D58"/>
          </a:solidFill>
          <a:ln cap="flat" cmpd="sng" w="38100">
            <a:solidFill>
              <a:srgbClr val="2F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>
                <a:solidFill>
                  <a:srgbClr val="2F544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Piemērs:</a:t>
            </a:r>
            <a:endParaRPr>
              <a:solidFill>
                <a:srgbClr val="2F544F"/>
              </a:solidFill>
            </a:endParaRPr>
          </a:p>
        </p:txBody>
      </p:sp>
      <p:cxnSp>
        <p:nvCxnSpPr>
          <p:cNvPr id="253" name="Google Shape;253;p25"/>
          <p:cNvCxnSpPr/>
          <p:nvPr/>
        </p:nvCxnSpPr>
        <p:spPr>
          <a:xfrm>
            <a:off x="4070179" y="238317"/>
            <a:ext cx="166200" cy="1656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5"/>
          <p:cNvCxnSpPr/>
          <p:nvPr/>
        </p:nvCxnSpPr>
        <p:spPr>
          <a:xfrm flipH="1">
            <a:off x="4069765" y="230811"/>
            <a:ext cx="158400" cy="172800"/>
          </a:xfrm>
          <a:prstGeom prst="straightConnector1">
            <a:avLst/>
          </a:prstGeom>
          <a:noFill/>
          <a:ln cap="flat" cmpd="sng" w="38100">
            <a:solidFill>
              <a:srgbClr val="395D5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5"/>
          <p:cNvSpPr txBox="1"/>
          <p:nvPr/>
        </p:nvSpPr>
        <p:spPr>
          <a:xfrm>
            <a:off x="461325" y="477445"/>
            <a:ext cx="33873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#</a:t>
            </a:r>
            <a:r>
              <a:rPr lang="ru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include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ru">
                <a:solidFill>
                  <a:srgbClr val="38761D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&lt;iostream&gt;</a:t>
            </a:r>
            <a:endParaRPr>
              <a:solidFill>
                <a:srgbClr val="38761D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C78D8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using namespace </a:t>
            </a:r>
            <a:r>
              <a:rPr lang="ru">
                <a:solidFill>
                  <a:srgbClr val="38761D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std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</a:t>
            </a:r>
            <a:r>
              <a:rPr lang="ru">
                <a:solidFill>
                  <a:srgbClr val="CC4125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main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() {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 number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unsigned long long 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factorial = 1;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cout &lt;&lt; </a:t>
            </a:r>
            <a:r>
              <a:rPr lang="ru">
                <a:solidFill>
                  <a:srgbClr val="CD983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"Ievadiet numuru: "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cin &gt;&gt;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number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for 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(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int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i =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i &lt;=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number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 i++) {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    </a:t>
            </a:r>
            <a:r>
              <a:rPr lang="ru">
                <a:solidFill>
                  <a:srgbClr val="C27BA0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factorial 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*= i;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}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cout &lt;&lt; "</a:t>
            </a:r>
            <a:r>
              <a:rPr lang="ru">
                <a:solidFill>
                  <a:srgbClr val="CD983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Factorial "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&lt;&lt; number &lt;&lt; </a:t>
            </a:r>
            <a:r>
              <a:rPr lang="ru">
                <a:solidFill>
                  <a:srgbClr val="CD9837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" ir:  " 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&lt;&lt; factorial &lt;&lt; endl;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    </a:t>
            </a:r>
            <a:r>
              <a:rPr lang="ru">
                <a:solidFill>
                  <a:srgbClr val="1155CC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return </a:t>
            </a:r>
            <a:r>
              <a:rPr lang="ru">
                <a:solidFill>
                  <a:srgbClr val="A64D7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0</a:t>
            </a: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;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F544F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}</a:t>
            </a:r>
            <a:endParaRPr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F544F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cxnSp>
        <p:nvCxnSpPr>
          <p:cNvPr id="256" name="Google Shape;256;p25"/>
          <p:cNvCxnSpPr/>
          <p:nvPr/>
        </p:nvCxnSpPr>
        <p:spPr>
          <a:xfrm>
            <a:off x="7464919" y="46427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5"/>
          <p:cNvCxnSpPr/>
          <p:nvPr/>
        </p:nvCxnSpPr>
        <p:spPr>
          <a:xfrm flipH="1">
            <a:off x="7464557" y="45709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5"/>
          <p:cNvSpPr/>
          <p:nvPr/>
        </p:nvSpPr>
        <p:spPr>
          <a:xfrm>
            <a:off x="4836175" y="405800"/>
            <a:ext cx="3666000" cy="1381800"/>
          </a:xfrm>
          <a:prstGeom prst="rect">
            <a:avLst/>
          </a:prstGeom>
          <a:solidFill>
            <a:srgbClr val="75B1A9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4836175" y="327525"/>
            <a:ext cx="3712200" cy="346500"/>
          </a:xfrm>
          <a:prstGeom prst="rect">
            <a:avLst/>
          </a:prstGeom>
          <a:solidFill>
            <a:srgbClr val="629C94"/>
          </a:solidFill>
          <a:ln cap="flat" cmpd="sng" w="38100">
            <a:solidFill>
              <a:srgbClr val="467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25"/>
          <p:cNvCxnSpPr/>
          <p:nvPr/>
        </p:nvCxnSpPr>
        <p:spPr>
          <a:xfrm>
            <a:off x="8193194" y="425170"/>
            <a:ext cx="153900" cy="1584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5"/>
          <p:cNvCxnSpPr/>
          <p:nvPr/>
        </p:nvCxnSpPr>
        <p:spPr>
          <a:xfrm flipH="1">
            <a:off x="8192832" y="417991"/>
            <a:ext cx="146700" cy="165300"/>
          </a:xfrm>
          <a:prstGeom prst="straightConnector1">
            <a:avLst/>
          </a:prstGeom>
          <a:noFill/>
          <a:ln cap="flat" cmpd="sng" w="38100">
            <a:solidFill>
              <a:srgbClr val="46746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5"/>
          <p:cNvSpPr txBox="1"/>
          <p:nvPr>
            <p:ph type="title"/>
          </p:nvPr>
        </p:nvSpPr>
        <p:spPr>
          <a:xfrm>
            <a:off x="5191800" y="807563"/>
            <a:ext cx="34839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4620">
                <a:solidFill>
                  <a:srgbClr val="46746E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4620">
              <a:solidFill>
                <a:srgbClr val="46746E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20"/>
          </a:p>
        </p:txBody>
      </p:sp>
      <p:sp>
        <p:nvSpPr>
          <p:cNvPr id="263" name="Google Shape;263;p25"/>
          <p:cNvSpPr txBox="1"/>
          <p:nvPr/>
        </p:nvSpPr>
        <p:spPr>
          <a:xfrm>
            <a:off x="5191800" y="752425"/>
            <a:ext cx="2801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44">
                <a:solidFill>
                  <a:srgbClr val="629C94"/>
                </a:solidFill>
                <a:latin typeface="Lexend Black"/>
                <a:ea typeface="Lexend Black"/>
                <a:cs typeface="Lexend Black"/>
                <a:sym typeface="Lexend Black"/>
              </a:rPr>
              <a:t>Piemērs</a:t>
            </a:r>
            <a:endParaRPr sz="3000">
              <a:solidFill>
                <a:srgbClr val="629C94"/>
              </a:solidFill>
            </a:endParaRPr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150" y="2862600"/>
            <a:ext cx="4047600" cy="138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/>
          <p:nvPr/>
        </p:nvSpPr>
        <p:spPr>
          <a:xfrm>
            <a:off x="1607659" y="471183"/>
            <a:ext cx="6040200" cy="546900"/>
          </a:xfrm>
          <a:prstGeom prst="roundRect">
            <a:avLst>
              <a:gd fmla="val 16667" name="adj"/>
            </a:avLst>
          </a:prstGeom>
          <a:solidFill>
            <a:srgbClr val="A1832F"/>
          </a:solidFill>
          <a:ln cap="flat" cmpd="sng" w="9525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1496139" y="392150"/>
            <a:ext cx="6040200" cy="514800"/>
          </a:xfrm>
          <a:prstGeom prst="roundRect">
            <a:avLst>
              <a:gd fmla="val 16667" name="adj"/>
            </a:avLst>
          </a:prstGeom>
          <a:solidFill>
            <a:srgbClr val="D9B44A"/>
          </a:solidFill>
          <a:ln cap="flat" cmpd="sng" w="38100">
            <a:solidFill>
              <a:srgbClr val="B59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"/>
          <p:cNvSpPr txBox="1"/>
          <p:nvPr>
            <p:ph idx="4294967295" type="subTitle"/>
          </p:nvPr>
        </p:nvSpPr>
        <p:spPr>
          <a:xfrm>
            <a:off x="1254900" y="494032"/>
            <a:ext cx="6634200" cy="61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ru" sz="4300">
                <a:solidFill>
                  <a:srgbClr val="A1832F"/>
                </a:solidFill>
                <a:latin typeface="Lexend Black"/>
                <a:ea typeface="Lexend Black"/>
                <a:cs typeface="Lexend Black"/>
                <a:sym typeface="Lexend Black"/>
              </a:rPr>
              <a:t>Izmantoti informācijas avoti</a:t>
            </a:r>
            <a:endParaRPr sz="4300">
              <a:solidFill>
                <a:srgbClr val="A1832F"/>
              </a:solidFill>
              <a:latin typeface="Lexend Black"/>
              <a:ea typeface="Lexend Black"/>
              <a:cs typeface="Lexend Black"/>
              <a:sym typeface="Lexend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t/>
            </a:r>
            <a:endParaRPr sz="4300">
              <a:solidFill>
                <a:srgbClr val="A1832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1147250" y="1478850"/>
            <a:ext cx="6389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rgbClr val="395D58"/>
                </a:solidFill>
              </a:rPr>
              <a:t>Skolas materiāli, teksta faili, prezentācijas</a:t>
            </a:r>
            <a:endParaRPr sz="2600">
              <a:solidFill>
                <a:srgbClr val="395D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5D58"/>
                </a:solidFill>
              </a:rPr>
              <a:t>geeksforgeeks.org</a:t>
            </a:r>
            <a:endParaRPr sz="2600">
              <a:solidFill>
                <a:srgbClr val="395D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5D58"/>
                </a:solidFill>
              </a:rPr>
              <a:t>programiz.com</a:t>
            </a:r>
            <a:endParaRPr sz="2600">
              <a:solidFill>
                <a:srgbClr val="395D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5D58"/>
                </a:solidFill>
              </a:rPr>
              <a:t>w3schools.com</a:t>
            </a:r>
            <a:endParaRPr sz="2600">
              <a:solidFill>
                <a:srgbClr val="395D5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395D58"/>
                </a:solidFill>
              </a:rPr>
              <a:t>code-live.ru</a:t>
            </a:r>
            <a:endParaRPr sz="2600">
              <a:solidFill>
                <a:srgbClr val="395D5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ACCDD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/>
          <p:nvPr/>
        </p:nvSpPr>
        <p:spPr>
          <a:xfrm>
            <a:off x="794804" y="1885312"/>
            <a:ext cx="7696500" cy="1873200"/>
          </a:xfrm>
          <a:prstGeom prst="roundRect">
            <a:avLst>
              <a:gd fmla="val 16667" name="adj"/>
            </a:avLst>
          </a:prstGeom>
          <a:solidFill>
            <a:srgbClr val="A1832F"/>
          </a:solidFill>
          <a:ln cap="flat" cmpd="sng" w="9525">
            <a:solidFill>
              <a:srgbClr val="A183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652700" y="1614599"/>
            <a:ext cx="7696500" cy="1764000"/>
          </a:xfrm>
          <a:prstGeom prst="roundRect">
            <a:avLst>
              <a:gd fmla="val 16667" name="adj"/>
            </a:avLst>
          </a:prstGeom>
          <a:solidFill>
            <a:srgbClr val="D9B44A"/>
          </a:solidFill>
          <a:ln cap="flat" cmpd="sng" w="38100">
            <a:solidFill>
              <a:srgbClr val="B59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 txBox="1"/>
          <p:nvPr>
            <p:ph idx="4294967295" type="subTitle"/>
          </p:nvPr>
        </p:nvSpPr>
        <p:spPr>
          <a:xfrm>
            <a:off x="345300" y="1963575"/>
            <a:ext cx="8453400" cy="211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300">
                <a:solidFill>
                  <a:srgbClr val="A1832F"/>
                </a:solidFill>
                <a:latin typeface="Lexend Black"/>
                <a:ea typeface="Lexend Black"/>
                <a:cs typeface="Lexend Black"/>
                <a:sym typeface="Lexend Black"/>
              </a:rPr>
              <a:t>PALDIES PAR UZMANIBU</a:t>
            </a:r>
            <a:endParaRPr sz="3800">
              <a:solidFill>
                <a:srgbClr val="A1832F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